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8"/>
    <p:sldId id="265" r:id="rId16"/>
    <p:sldId id="266" r:id="rId17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소개" id="{57a265f1-d33d-d916-bb08-1ee61d75164e}">
          <p14:sldIdLst>
            <p14:sldId id="256"/>
          </p14:sldIdLst>
        </p14:section>
        <p14:section name="시작하기" id="{5cc68e9a-63c4-0317-bbc2-cb9f08421e12}">
          <p14:sldIdLst>
            <p14:sldId id="257"/>
            <p14:sldId id="258"/>
            <p14:sldId id="259"/>
          </p14:sldIdLst>
        </p14:section>
        <p14:section name="사용하기" id="{6a6f711a-bbc8-bc01-d544-6d2a7806a91c}">
          <p14:sldIdLst>
            <p14:sldId id="260"/>
            <p14:sldId id="261"/>
            <p14:sldId id="262"/>
            <p14:sldId id="263"/>
          </p14:sldIdLst>
        </p14:section>
        <p14:section name="문제 해결" id="{d1c771e0-d18a-7b24-2196-fd50c8ed38b5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11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KCube Maven Goals 플러그인 사용 매뉴얼. 설치부터 goal 실행, 문제 해결까지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뷰는 Window &gt; Show View &gt; Other에서 Maven Goals를 검색해 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dropins에는 반드시 이 jar 하나만 두세요. 같은 플러그인이 두 군데 있으면 옛 버전이 로드될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pom.xml이 아닌 파일을 끌어다 놓으면 무시되고 Error Log에 경고가 남습니다.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아이콘에 마우스를 올리면 툴팁으로 기능명이 표시됩니다.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실행 가능한 goal은 더블클릭과 Run 버튼이 똑같이 동작합니다.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@executionId 문법은 Maven 3.3.1 이상에서 지원됩니다.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외부 mvn을 쓰려면 터미널에서 mvn -v가 동작해야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자세한 내용은 설치방법.md의 문제 해결 항목을 참고하세요.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 title"/>
          <p:cNvSpPr txBox="1"/>
          <p:nvPr/>
        </p:nvSpPr>
        <p:spPr>
          <a:xfrm>
            <a:off x="640080" y="13716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KCube Maven Goals</a:t>
            </a:r>
            <a:endParaRPr lang="en-US" sz="4400" dirty="0"/>
          </a:p>
        </p:txBody>
      </p:sp>
      <p:sp>
        <p:nvSpPr>
          <p:cNvPr id="3" name="Cover subtitle"/>
          <p:cNvSpPr txBox="1"/>
          <p:nvPr/>
        </p:nvSpPr>
        <p:spPr>
          <a:xfrm>
            <a:off x="640080" y="21945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사용 매뉴얼</a:t>
            </a:r>
            <a:endParaRPr lang="en-US" sz="2800" dirty="0"/>
          </a:p>
        </p:txBody>
      </p:sp>
      <p:sp>
        <p:nvSpPr>
          <p:cNvPr id="4" name="Cover tagline"/>
          <p:cNvSpPr txBox="1"/>
          <p:nvPr/>
        </p:nvSpPr>
        <p:spPr>
          <a:xfrm>
            <a:off x="640080" y="31089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Eclipse에서 Maven lifecycle · plugin goal을 트리로 보고 바로 실행하세요</a:t>
            </a:r>
            <a:endParaRPr lang="en-US" sz="1600" dirty="0"/>
          </a:p>
        </p:txBody>
      </p:sp>
      <p:pic>
        <p:nvPicPr>
          <p:cNvPr id="5" name="Cover screenshot" descr="Maven Goals 뷰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657600"/>
            <a:ext cx="2743200" cy="11216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화면 구성</a:t>
            </a:r>
            <a:endParaRPr lang="en-US" sz="3200" dirty="0"/>
          </a:p>
        </p:txBody>
      </p:sp>
      <p:pic>
        <p:nvPicPr>
          <p:cNvPr id="3" name="Panel screenshot" descr="Maven Goals 뷰: 등록된 프로젝트 트리와 툴바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06677"/>
            <a:ext cx="4846320" cy="1981606"/>
          </a:xfrm>
          <a:prstGeom prst="rect">
            <a:avLst/>
          </a:prstGeom>
        </p:spPr>
      </p:pic>
      <p:sp>
        <p:nvSpPr>
          <p:cNvPr id="4" name="Panel caption"/>
          <p:cNvSpPr txBox="1"/>
          <p:nvPr/>
        </p:nvSpPr>
        <p:spPr>
          <a:xfrm>
            <a:off x="457200" y="43434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Window &gt; Show View &gt; Other… &gt; Maven Goals</a:t>
            </a:r>
            <a:endParaRPr lang="en-US" sz="1200" dirty="0"/>
          </a:p>
        </p:txBody>
      </p:sp>
      <p:sp>
        <p:nvSpPr>
          <p:cNvPr id="5" name="Callout 1"/>
          <p:cNvSpPr/>
          <p:nvPr/>
        </p:nvSpPr>
        <p:spPr>
          <a:xfrm>
            <a:off x="5577840" y="118872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Callout 1 number"/>
          <p:cNvSpPr txBox="1"/>
          <p:nvPr/>
        </p:nvSpPr>
        <p:spPr>
          <a:xfrm>
            <a:off x="5577840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Callout 1 text"/>
          <p:cNvSpPr txBox="1"/>
          <p:nvPr/>
        </p:nvSpPr>
        <p:spPr>
          <a:xfrm>
            <a:off x="6080760" y="11430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최상위 노드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등록한 pom.xml 하나가 프로젝트 하나. 이름순으로 정렬됩니다.</a:t>
            </a:r>
            <a:endParaRPr lang="en-US" sz="1600" dirty="0"/>
          </a:p>
        </p:txBody>
      </p:sp>
      <p:sp>
        <p:nvSpPr>
          <p:cNvPr id="8" name="Callout 2"/>
          <p:cNvSpPr/>
          <p:nvPr/>
        </p:nvSpPr>
        <p:spPr>
          <a:xfrm>
            <a:off x="5577840" y="205740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Callout 2 number"/>
          <p:cNvSpPr txBox="1"/>
          <p:nvPr/>
        </p:nvSpPr>
        <p:spPr>
          <a:xfrm>
            <a:off x="5577840" y="2057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Callout 2 text"/>
          <p:cNvSpPr txBox="1"/>
          <p:nvPr/>
        </p:nvSpPr>
        <p:spPr>
          <a:xfrm>
            <a:off x="6080760" y="20116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Lifecycle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clean ~ deploy까지 Maven 표준 phase 23개.</a:t>
            </a:r>
            <a:endParaRPr lang="en-US" sz="1600" dirty="0"/>
          </a:p>
        </p:txBody>
      </p:sp>
      <p:sp>
        <p:nvSpPr>
          <p:cNvPr id="11" name="Callout 3"/>
          <p:cNvSpPr/>
          <p:nvPr/>
        </p:nvSpPr>
        <p:spPr>
          <a:xfrm>
            <a:off x="5577840" y="292608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Callout 3 number"/>
          <p:cNvSpPr txBox="1"/>
          <p:nvPr/>
        </p:nvSpPr>
        <p:spPr>
          <a:xfrm>
            <a:off x="5577840" y="2926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Callout 3 text"/>
          <p:cNvSpPr txBox="1"/>
          <p:nvPr/>
        </p:nvSpPr>
        <p:spPr>
          <a:xfrm>
            <a:off x="6080760" y="288036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Plugins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pom.xml에 선언된 플러그인과 execution goal.</a:t>
            </a:r>
            <a:endParaRPr lang="en-US" sz="1600" dirty="0"/>
          </a:p>
        </p:txBody>
      </p:sp>
      <p:sp>
        <p:nvSpPr>
          <p:cNvPr id="14" name="Callout 4"/>
          <p:cNvSpPr/>
          <p:nvPr/>
        </p:nvSpPr>
        <p:spPr>
          <a:xfrm>
            <a:off x="5577840" y="379476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Callout 4 number"/>
          <p:cNvSpPr txBox="1"/>
          <p:nvPr/>
        </p:nvSpPr>
        <p:spPr>
          <a:xfrm>
            <a:off x="557784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Callout 4 text"/>
          <p:cNvSpPr txBox="1"/>
          <p:nvPr/>
        </p:nvSpPr>
        <p:spPr>
          <a:xfrm>
            <a:off x="6080760" y="374904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툴바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등록·실행·펼치기 기능 모음 (다음 슬라이드).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설치 방법</a:t>
            </a:r>
            <a:endParaRPr lang="en-US" sz="3200" dirty="0"/>
          </a:p>
        </p:txBody>
      </p:sp>
      <p:sp>
        <p:nvSpPr>
          <p:cNvPr id="3" name="Prerequisites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사전 조건: Java 17 이상 · m2e(Maven Integration for Eclipse) 설치</a:t>
            </a:r>
            <a:endParaRPr lang="en-US" sz="1400" dirty="0"/>
          </a:p>
        </p:txBody>
      </p:sp>
      <p:sp>
        <p:nvSpPr>
          <p:cNvPr id="4" name="Step card 1"/>
          <p:cNvSpPr/>
          <p:nvPr/>
        </p:nvSpPr>
        <p:spPr>
          <a:xfrm>
            <a:off x="457200" y="1463040"/>
            <a:ext cx="26517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5" name="Step 1"/>
          <p:cNvSpPr/>
          <p:nvPr/>
        </p:nvSpPr>
        <p:spPr>
          <a:xfrm>
            <a:off x="594360" y="160020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Step 1 number"/>
          <p:cNvSpPr txBox="1"/>
          <p:nvPr/>
        </p:nvSpPr>
        <p:spPr>
          <a:xfrm>
            <a:off x="59436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Step 1 title"/>
          <p:cNvSpPr txBox="1"/>
          <p:nvPr/>
        </p:nvSpPr>
        <p:spPr>
          <a:xfrm>
            <a:off x="1051560" y="16002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jar 복사</a:t>
            </a:r>
            <a:endParaRPr lang="en-US" sz="1600" dirty="0"/>
          </a:p>
        </p:txBody>
      </p:sp>
      <p:sp>
        <p:nvSpPr>
          <p:cNvPr id="8" name="Step 1 text"/>
          <p:cNvSpPr txBox="1"/>
          <p:nvPr/>
        </p:nvSpPr>
        <p:spPr>
          <a:xfrm>
            <a:off x="594360" y="20574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com.kcube.mavenview_1.0.0.jar를 Eclipse의 dropins 폴더에 넣습니다.</a:t>
            </a:r>
            <a:endParaRPr lang="en-US" sz="1300" dirty="0"/>
          </a:p>
        </p:txBody>
      </p:sp>
      <p:sp>
        <p:nvSpPr>
          <p:cNvPr id="9" name="Step card 2"/>
          <p:cNvSpPr/>
          <p:nvPr/>
        </p:nvSpPr>
        <p:spPr>
          <a:xfrm>
            <a:off x="3246120" y="1463040"/>
            <a:ext cx="26517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0" name="Step 2"/>
          <p:cNvSpPr/>
          <p:nvPr/>
        </p:nvSpPr>
        <p:spPr>
          <a:xfrm>
            <a:off x="3383280" y="160020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Step 2 number"/>
          <p:cNvSpPr txBox="1"/>
          <p:nvPr/>
        </p:nvSpPr>
        <p:spPr>
          <a:xfrm>
            <a:off x="338328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Step 2 title"/>
          <p:cNvSpPr txBox="1"/>
          <p:nvPr/>
        </p:nvSpPr>
        <p:spPr>
          <a:xfrm>
            <a:off x="3840480" y="16002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Eclipse 종료</a:t>
            </a:r>
            <a:endParaRPr lang="en-US" sz="1600" dirty="0"/>
          </a:p>
        </p:txBody>
      </p:sp>
      <p:sp>
        <p:nvSpPr>
          <p:cNvPr id="13" name="Step 2 text"/>
          <p:cNvSpPr txBox="1"/>
          <p:nvPr/>
        </p:nvSpPr>
        <p:spPr>
          <a:xfrm>
            <a:off x="3383280" y="20574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백그라운드에 남지 않도록 완전히 종료합니다 (macOS는 ⌘Q).</a:t>
            </a:r>
            <a:endParaRPr lang="en-US" sz="1300" dirty="0"/>
          </a:p>
        </p:txBody>
      </p:sp>
      <p:sp>
        <p:nvSpPr>
          <p:cNvPr id="14" name="Step card 3"/>
          <p:cNvSpPr/>
          <p:nvPr/>
        </p:nvSpPr>
        <p:spPr>
          <a:xfrm>
            <a:off x="6035040" y="1463040"/>
            <a:ext cx="26517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5" name="Step 3"/>
          <p:cNvSpPr/>
          <p:nvPr/>
        </p:nvSpPr>
        <p:spPr>
          <a:xfrm>
            <a:off x="6172200" y="160020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Step 3 number"/>
          <p:cNvSpPr txBox="1"/>
          <p:nvPr/>
        </p:nvSpPr>
        <p:spPr>
          <a:xfrm>
            <a:off x="617220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Step 3 title"/>
          <p:cNvSpPr txBox="1"/>
          <p:nvPr/>
        </p:nvSpPr>
        <p:spPr>
          <a:xfrm>
            <a:off x="6629400" y="16002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-clean 재실행</a:t>
            </a:r>
            <a:endParaRPr lang="en-US" sz="1600" dirty="0"/>
          </a:p>
        </p:txBody>
      </p:sp>
      <p:sp>
        <p:nvSpPr>
          <p:cNvPr id="18" name="Step 3 text"/>
          <p:cNvSpPr txBox="1"/>
          <p:nvPr/>
        </p:nvSpPr>
        <p:spPr>
          <a:xfrm>
            <a:off x="6172200" y="20574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새 플러그인이 인식되도록 clean 옵션을 붙여 실행합니다.</a:t>
            </a:r>
            <a:endParaRPr lang="en-US" sz="1300" dirty="0"/>
          </a:p>
        </p:txBody>
      </p:sp>
      <p:sp>
        <p:nvSpPr>
          <p:cNvPr id="19" name="macOS code"/>
          <p:cNvSpPr/>
          <p:nvPr/>
        </p:nvSpPr>
        <p:spPr>
          <a:xfrm>
            <a:off x="457200" y="3017520"/>
            <a:ext cx="4023360" cy="1600200"/>
          </a:xfrm>
          <a:prstGeom prst="roundRect">
            <a:avLst>
              <a:gd name="adj" fmla="val 457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0" name="macOS code label"/>
          <p:cNvSpPr txBox="1"/>
          <p:nvPr/>
        </p:nvSpPr>
        <p:spPr>
          <a:xfrm>
            <a:off x="640080" y="3090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macOS</a:t>
            </a:r>
            <a:endParaRPr lang="en-US" sz="1300" dirty="0"/>
          </a:p>
        </p:txBody>
      </p:sp>
      <p:sp>
        <p:nvSpPr>
          <p:cNvPr id="21" name="macOS code code"/>
          <p:cNvSpPr txBox="1"/>
          <p:nvPr/>
        </p:nvSpPr>
        <p:spPr>
          <a:xfrm>
            <a:off x="640080" y="3401568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 com.kcube.mavenview_1.0.0.jar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/Applications/Eclipse.app/Contents/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Eclipse/dropins/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-n /Applications/Eclipse.app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--args -data &lt;workspace&gt; -clean</a:t>
            </a:r>
            <a:endParaRPr lang="en-US" sz="1100" dirty="0"/>
          </a:p>
        </p:txBody>
      </p:sp>
      <p:sp>
        <p:nvSpPr>
          <p:cNvPr id="22" name="Windows code"/>
          <p:cNvSpPr/>
          <p:nvPr/>
        </p:nvSpPr>
        <p:spPr>
          <a:xfrm>
            <a:off x="4663440" y="3017520"/>
            <a:ext cx="4023360" cy="1600200"/>
          </a:xfrm>
          <a:prstGeom prst="roundRect">
            <a:avLst>
              <a:gd name="adj" fmla="val 457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3" name="Windows code label"/>
          <p:cNvSpPr txBox="1"/>
          <p:nvPr/>
        </p:nvSpPr>
        <p:spPr>
          <a:xfrm>
            <a:off x="4846320" y="3090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Windows</a:t>
            </a:r>
            <a:endParaRPr lang="en-US" sz="1300" dirty="0"/>
          </a:p>
        </p:txBody>
      </p:sp>
      <p:sp>
        <p:nvSpPr>
          <p:cNvPr id="24" name="Windows code code"/>
          <p:cNvSpPr txBox="1"/>
          <p:nvPr/>
        </p:nvSpPr>
        <p:spPr>
          <a:xfrm>
            <a:off x="4846320" y="3401568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com.kcube.mavenview_1.0.0.jar ^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C:\eclipse\dropins\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"C:\eclipse\eclipse.exe" -clean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pom.xml 등록하기</a:t>
            </a:r>
            <a:endParaRPr lang="en-US" sz="3200" dirty="0"/>
          </a:p>
        </p:txBody>
      </p:sp>
      <p:sp>
        <p:nvSpPr>
          <p:cNvPr id="3" name="Register card 1"/>
          <p:cNvSpPr/>
          <p:nvPr/>
        </p:nvSpPr>
        <p:spPr>
          <a:xfrm>
            <a:off x="457200" y="1188720"/>
            <a:ext cx="26517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" name="Drag icon"/>
          <p:cNvSpPr/>
          <p:nvPr/>
        </p:nvSpPr>
        <p:spPr>
          <a:xfrm>
            <a:off x="713232" y="1371600"/>
            <a:ext cx="310896" cy="457200"/>
          </a:xfrm>
          <a:prstGeom prst="down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Register title 1"/>
          <p:cNvSpPr txBox="1"/>
          <p:nvPr/>
        </p:nvSpPr>
        <p:spPr>
          <a:xfrm>
            <a:off x="1234440" y="1371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드래그 앤 드롭</a:t>
            </a:r>
            <a:endParaRPr lang="en-US" sz="1600" dirty="0"/>
          </a:p>
        </p:txBody>
      </p:sp>
      <p:sp>
        <p:nvSpPr>
          <p:cNvPr id="6" name="Register text 1"/>
          <p:cNvSpPr txBox="1"/>
          <p:nvPr/>
        </p:nvSpPr>
        <p:spPr>
          <a:xfrm>
            <a:off x="640080" y="201168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Finder나 Project Explorer에서 pom.xml 파일 또는 프로젝트 폴더를 뷰로 끌어다 놓습니다.</a:t>
            </a:r>
            <a:endParaRPr lang="en-US" sz="1500" dirty="0"/>
          </a:p>
        </p:txBody>
      </p:sp>
      <p:sp>
        <p:nvSpPr>
          <p:cNvPr id="7" name="Register card 2"/>
          <p:cNvSpPr/>
          <p:nvPr/>
        </p:nvSpPr>
        <p:spPr>
          <a:xfrm>
            <a:off x="3246120" y="1188720"/>
            <a:ext cx="26517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pic>
        <p:nvPicPr>
          <p:cNvPr id="8" name="Register icon 2" descr="Add POM File…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9000" y="1371600"/>
            <a:ext cx="457200" cy="457200"/>
          </a:xfrm>
          <a:prstGeom prst="rect">
            <a:avLst/>
          </a:prstGeom>
        </p:spPr>
      </p:pic>
      <p:sp>
        <p:nvSpPr>
          <p:cNvPr id="9" name="Register title 2"/>
          <p:cNvSpPr txBox="1"/>
          <p:nvPr/>
        </p:nvSpPr>
        <p:spPr>
          <a:xfrm>
            <a:off x="4023360" y="1371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Add POM File…</a:t>
            </a:r>
            <a:endParaRPr lang="en-US" sz="1600" dirty="0"/>
          </a:p>
        </p:txBody>
      </p:sp>
      <p:sp>
        <p:nvSpPr>
          <p:cNvPr id="10" name="Register text 2"/>
          <p:cNvSpPr txBox="1"/>
          <p:nvPr/>
        </p:nvSpPr>
        <p:spPr>
          <a:xfrm>
            <a:off x="3429000" y="201168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파일 다이얼로그에서 디스크의 pom.xml을 하나 이상 선택합니다.</a:t>
            </a:r>
            <a:endParaRPr lang="en-US" sz="1500" dirty="0"/>
          </a:p>
        </p:txBody>
      </p:sp>
      <p:sp>
        <p:nvSpPr>
          <p:cNvPr id="11" name="Register card 3"/>
          <p:cNvSpPr/>
          <p:nvPr/>
        </p:nvSpPr>
        <p:spPr>
          <a:xfrm>
            <a:off x="6035040" y="1188720"/>
            <a:ext cx="26517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pic>
        <p:nvPicPr>
          <p:cNvPr id="12" name="Register icon 3" descr="Add from Selec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457200" cy="457200"/>
          </a:xfrm>
          <a:prstGeom prst="rect">
            <a:avLst/>
          </a:prstGeom>
        </p:spPr>
      </p:pic>
      <p:sp>
        <p:nvSpPr>
          <p:cNvPr id="13" name="Register title 3"/>
          <p:cNvSpPr txBox="1"/>
          <p:nvPr/>
        </p:nvSpPr>
        <p:spPr>
          <a:xfrm>
            <a:off x="6812280" y="1371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Add from Selection</a:t>
            </a:r>
            <a:endParaRPr lang="en-US" sz="1600" dirty="0"/>
          </a:p>
        </p:txBody>
      </p:sp>
      <p:sp>
        <p:nvSpPr>
          <p:cNvPr id="14" name="Register text 3"/>
          <p:cNvSpPr txBox="1"/>
          <p:nvPr/>
        </p:nvSpPr>
        <p:spPr>
          <a:xfrm>
            <a:off x="6217920" y="201168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Project Explorer 등에서 마지막으로 선택한 프로젝트의 pom.xml을 등록합니다.</a:t>
            </a:r>
            <a:endParaRPr lang="en-US" sz="1500" dirty="0"/>
          </a:p>
        </p:txBody>
      </p:sp>
      <p:sp>
        <p:nvSpPr>
          <p:cNvPr id="15" name="Register footnote"/>
          <p:cNvSpPr txBox="1"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등록한 목록은 워크스페이스에 저장되어 Eclipse를 다시 시작해도 유지됩니다.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목록에서 지우려면 프로젝트 노드를 선택하고 Remove 버튼을 누르세요.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툴바 기능</a:t>
            </a:r>
            <a:endParaRPr lang="en-US" sz="3200" dirty="0"/>
          </a:p>
        </p:txBody>
      </p:sp>
      <p:pic>
        <p:nvPicPr>
          <p:cNvPr id="3" name="Toolbar screenshot" descr="Maven Goals 툴바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8229600" cy="421561"/>
          </a:xfrm>
          <a:prstGeom prst="rect">
            <a:avLst/>
          </a:prstGeom>
        </p:spPr>
      </p:pic>
      <p:pic>
        <p:nvPicPr>
          <p:cNvPr id="4" name="Toolbar icon mvn 체크박스" descr="mvn 체크박스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74520"/>
            <a:ext cx="822960" cy="365760"/>
          </a:xfrm>
          <a:prstGeom prst="rect">
            <a:avLst/>
          </a:prstGeom>
        </p:spPr>
      </p:pic>
      <p:sp>
        <p:nvSpPr>
          <p:cNvPr id="5" name="Toolbar text mvn 체크박스"/>
          <p:cNvSpPr txBox="1"/>
          <p:nvPr/>
        </p:nvSpPr>
        <p:spPr>
          <a:xfrm>
            <a:off x="1463040" y="1828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mvn 체크박스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체크: 외부 mvn / 해제: Eclipse 내장 Maven</a:t>
            </a:r>
            <a:endParaRPr lang="en-US" sz="1300" dirty="0"/>
          </a:p>
        </p:txBody>
      </p:sp>
      <p:pic>
        <p:nvPicPr>
          <p:cNvPr id="6" name="Toolbar icon Run" descr="Ru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450592"/>
            <a:ext cx="274320" cy="274320"/>
          </a:xfrm>
          <a:prstGeom prst="rect">
            <a:avLst/>
          </a:prstGeom>
        </p:spPr>
      </p:pic>
      <p:sp>
        <p:nvSpPr>
          <p:cNvPr id="7" name="Toolbar text Run"/>
          <p:cNvSpPr txBox="1"/>
          <p:nvPr/>
        </p:nvSpPr>
        <p:spPr>
          <a:xfrm>
            <a:off x="960120" y="240487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Run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선택한 goal 실행 (더블클릭과 동일)</a:t>
            </a:r>
            <a:endParaRPr lang="en-US" sz="1300" dirty="0"/>
          </a:p>
        </p:txBody>
      </p:sp>
      <p:pic>
        <p:nvPicPr>
          <p:cNvPr id="8" name="Toolbar icon Update Maven Project" descr="Update Maven Projec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026664"/>
            <a:ext cx="274320" cy="274320"/>
          </a:xfrm>
          <a:prstGeom prst="rect">
            <a:avLst/>
          </a:prstGeom>
        </p:spPr>
      </p:pic>
      <p:sp>
        <p:nvSpPr>
          <p:cNvPr id="9" name="Toolbar text Update Maven Project"/>
          <p:cNvSpPr txBox="1"/>
          <p:nvPr/>
        </p:nvSpPr>
        <p:spPr>
          <a:xfrm>
            <a:off x="960120" y="298094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Update Maven Project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pom.xml 재로딩, 의존성 재해석</a:t>
            </a:r>
            <a:endParaRPr lang="en-US" sz="1300" dirty="0"/>
          </a:p>
        </p:txBody>
      </p:sp>
      <p:pic>
        <p:nvPicPr>
          <p:cNvPr id="10" name="Toolbar icon Add POM File…" descr="Add POM File…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602736"/>
            <a:ext cx="274320" cy="274320"/>
          </a:xfrm>
          <a:prstGeom prst="rect">
            <a:avLst/>
          </a:prstGeom>
        </p:spPr>
      </p:pic>
      <p:sp>
        <p:nvSpPr>
          <p:cNvPr id="11" name="Toolbar text Add POM File…"/>
          <p:cNvSpPr txBox="1"/>
          <p:nvPr/>
        </p:nvSpPr>
        <p:spPr>
          <a:xfrm>
            <a:off x="960120" y="355701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Add POM File…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디스크에서 pom.xml 등록</a:t>
            </a:r>
            <a:endParaRPr lang="en-US" sz="1300" dirty="0"/>
          </a:p>
        </p:txBody>
      </p:sp>
      <p:pic>
        <p:nvPicPr>
          <p:cNvPr id="12" name="Toolbar icon Add from Selection" descr="Add from Selecti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178808"/>
            <a:ext cx="274320" cy="274320"/>
          </a:xfrm>
          <a:prstGeom prst="rect">
            <a:avLst/>
          </a:prstGeom>
        </p:spPr>
      </p:pic>
      <p:sp>
        <p:nvSpPr>
          <p:cNvPr id="13" name="Toolbar text Add from Selection"/>
          <p:cNvSpPr txBox="1"/>
          <p:nvPr/>
        </p:nvSpPr>
        <p:spPr>
          <a:xfrm>
            <a:off x="960120" y="413308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Add from Selection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선택한 프로젝트의 pom.xml 등록</a:t>
            </a:r>
            <a:endParaRPr lang="en-US" sz="1300" dirty="0"/>
          </a:p>
        </p:txBody>
      </p:sp>
      <p:pic>
        <p:nvPicPr>
          <p:cNvPr id="14" name="Toolbar icon Remove" descr="Remov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3440" y="1874520"/>
            <a:ext cx="274320" cy="274320"/>
          </a:xfrm>
          <a:prstGeom prst="rect">
            <a:avLst/>
          </a:prstGeom>
        </p:spPr>
      </p:pic>
      <p:sp>
        <p:nvSpPr>
          <p:cNvPr id="15" name="Toolbar text Remove"/>
          <p:cNvSpPr txBox="1"/>
          <p:nvPr/>
        </p:nvSpPr>
        <p:spPr>
          <a:xfrm>
            <a:off x="5166360" y="18288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Remove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선택한 프로젝트를 목록에서 제거</a:t>
            </a:r>
            <a:endParaRPr lang="en-US" sz="1300" dirty="0"/>
          </a:p>
        </p:txBody>
      </p:sp>
      <p:pic>
        <p:nvPicPr>
          <p:cNvPr id="16" name="Toolbar icon Refresh All" descr="Refresh All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63440" y="2450592"/>
            <a:ext cx="274320" cy="274320"/>
          </a:xfrm>
          <a:prstGeom prst="rect">
            <a:avLst/>
          </a:prstGeom>
        </p:spPr>
      </p:pic>
      <p:sp>
        <p:nvSpPr>
          <p:cNvPr id="17" name="Toolbar text Refresh All"/>
          <p:cNvSpPr txBox="1"/>
          <p:nvPr/>
        </p:nvSpPr>
        <p:spPr>
          <a:xfrm>
            <a:off x="5166360" y="240487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Refresh All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등록된 모든 pom.xml 다시 읽기</a:t>
            </a:r>
            <a:endParaRPr lang="en-US" sz="1300" dirty="0"/>
          </a:p>
        </p:txBody>
      </p:sp>
      <p:pic>
        <p:nvPicPr>
          <p:cNvPr id="18" name="Toolbar icon Expand All" descr="Expand All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63440" y="3026664"/>
            <a:ext cx="274320" cy="274320"/>
          </a:xfrm>
          <a:prstGeom prst="rect">
            <a:avLst/>
          </a:prstGeom>
        </p:spPr>
      </p:pic>
      <p:sp>
        <p:nvSpPr>
          <p:cNvPr id="19" name="Toolbar text Expand All"/>
          <p:cNvSpPr txBox="1"/>
          <p:nvPr/>
        </p:nvSpPr>
        <p:spPr>
          <a:xfrm>
            <a:off x="5166360" y="298094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Expand All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선택 노드 하위(없으면 전체) 펼치기</a:t>
            </a:r>
            <a:endParaRPr lang="en-US" sz="1300" dirty="0"/>
          </a:p>
        </p:txBody>
      </p:sp>
      <p:pic>
        <p:nvPicPr>
          <p:cNvPr id="20" name="Toolbar icon Collapse All" descr="Collapse All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63440" y="3602736"/>
            <a:ext cx="274320" cy="274320"/>
          </a:xfrm>
          <a:prstGeom prst="rect">
            <a:avLst/>
          </a:prstGeom>
        </p:spPr>
      </p:pic>
      <p:sp>
        <p:nvSpPr>
          <p:cNvPr id="21" name="Toolbar text Collapse All"/>
          <p:cNvSpPr txBox="1"/>
          <p:nvPr/>
        </p:nvSpPr>
        <p:spPr>
          <a:xfrm>
            <a:off x="5166360" y="355701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Collapse All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전체 접기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Lifecycle phase 실행</a:t>
            </a:r>
            <a:endParaRPr lang="en-US" sz="3200" dirty="0"/>
          </a:p>
        </p:txBody>
      </p:sp>
      <p:pic>
        <p:nvPicPr>
          <p:cNvPr id="3" name="Lifecycle screenshot" descr="Lifecycle 노드를 펼친 트리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0797"/>
            <a:ext cx="3383280" cy="3762005"/>
          </a:xfrm>
          <a:prstGeom prst="rect">
            <a:avLst/>
          </a:prstGeom>
        </p:spPr>
      </p:pic>
      <p:sp>
        <p:nvSpPr>
          <p:cNvPr id="4" name="Run step 1"/>
          <p:cNvSpPr/>
          <p:nvPr/>
        </p:nvSpPr>
        <p:spPr>
          <a:xfrm>
            <a:off x="4297680" y="118872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Run step 1 number"/>
          <p:cNvSpPr txBox="1"/>
          <p:nvPr/>
        </p:nvSpPr>
        <p:spPr>
          <a:xfrm>
            <a:off x="4297680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Run step 1 text"/>
          <p:cNvSpPr txBox="1"/>
          <p:nvPr/>
        </p:nvSpPr>
        <p:spPr>
          <a:xfrm>
            <a:off x="4800600" y="1143000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goal 선택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Lifecycle 아래 phase(예: compile, package)를 클릭합니다.</a:t>
            </a:r>
            <a:endParaRPr lang="en-US" sz="1600" dirty="0"/>
          </a:p>
        </p:txBody>
      </p:sp>
      <p:sp>
        <p:nvSpPr>
          <p:cNvPr id="7" name="Run step 2"/>
          <p:cNvSpPr/>
          <p:nvPr/>
        </p:nvSpPr>
        <p:spPr>
          <a:xfrm>
            <a:off x="4297680" y="214884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Run step 2 number"/>
          <p:cNvSpPr txBox="1"/>
          <p:nvPr/>
        </p:nvSpPr>
        <p:spPr>
          <a:xfrm>
            <a:off x="429768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Run step 2 text"/>
          <p:cNvSpPr txBox="1"/>
          <p:nvPr/>
        </p:nvSpPr>
        <p:spPr>
          <a:xfrm>
            <a:off x="4800600" y="2103120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실행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툴바의 ▶ Run을 누르거나 항목을 더블클릭합니다.</a:t>
            </a:r>
            <a:endParaRPr lang="en-US" sz="1600" dirty="0"/>
          </a:p>
        </p:txBody>
      </p:sp>
      <p:sp>
        <p:nvSpPr>
          <p:cNvPr id="10" name="Run step 3"/>
          <p:cNvSpPr/>
          <p:nvPr/>
        </p:nvSpPr>
        <p:spPr>
          <a:xfrm>
            <a:off x="4297680" y="310896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Run step 3 number"/>
          <p:cNvSpPr txBox="1"/>
          <p:nvPr/>
        </p:nvSpPr>
        <p:spPr>
          <a:xfrm>
            <a:off x="429768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Run step 3 text"/>
          <p:cNvSpPr txBox="1"/>
          <p:nvPr/>
        </p:nvSpPr>
        <p:spPr>
          <a:xfrm>
            <a:off x="4800600" y="3063240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결과 확인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Console 뷰에서 Maven 출력을 확인합니다.</a:t>
            </a:r>
            <a:endParaRPr lang="en-US" sz="1600" dirty="0"/>
          </a:p>
        </p:txBody>
      </p:sp>
      <p:sp>
        <p:nvSpPr>
          <p:cNvPr id="13" name="Folder tip card"/>
          <p:cNvSpPr/>
          <p:nvPr/>
        </p:nvSpPr>
        <p:spPr>
          <a:xfrm>
            <a:off x="4297680" y="4023360"/>
            <a:ext cx="438912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4" name="Folder tip"/>
          <p:cNvSpPr txBox="1"/>
          <p:nvPr/>
        </p:nvSpPr>
        <p:spPr>
          <a:xfrm>
            <a:off x="4434840" y="406908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프로젝트·Lifecycle·Plugins·플러그인 같은 폴더 노드는 더블클릭하면 접기/펼치기가 됩니다.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Plugins와 execution goal</a:t>
            </a:r>
            <a:endParaRPr lang="en-US" sz="3200" dirty="0"/>
          </a:p>
        </p:txBody>
      </p:sp>
      <p:pic>
        <p:nvPicPr>
          <p:cNvPr id="3" name="Plugins screenshot" descr="Plugins 노드를 펼친 트리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595" y="1097280"/>
            <a:ext cx="4530090" cy="3749040"/>
          </a:xfrm>
          <a:prstGeom prst="rect">
            <a:avLst/>
          </a:prstGeom>
        </p:spPr>
      </p:pic>
      <p:sp>
        <p:nvSpPr>
          <p:cNvPr id="4" name="Plugin point 1"/>
          <p:cNvSpPr txBox="1"/>
          <p:nvPr/>
        </p:nvSpPr>
        <p:spPr>
          <a:xfrm>
            <a:off x="5486400" y="11430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플러그인 이름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artifactId만 굵게 표시합니다 (예: maven-antrun-plugin).</a:t>
            </a:r>
            <a:endParaRPr lang="en-US" sz="1600" dirty="0"/>
          </a:p>
        </p:txBody>
      </p:sp>
      <p:sp>
        <p:nvSpPr>
          <p:cNvPr id="5" name="Plugin point 2"/>
          <p:cNvSpPr txBox="1"/>
          <p:nvPr/>
        </p:nvSpPr>
        <p:spPr>
          <a:xfrm>
            <a:off x="5486400" y="233172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execution goal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그 아래에 executionId:goal 형태로 나열됩니다 (예: js:run).</a:t>
            </a:r>
            <a:endParaRPr lang="en-US" sz="1600" dirty="0"/>
          </a:p>
        </p:txBody>
      </p:sp>
      <p:sp>
        <p:nvSpPr>
          <p:cNvPr id="6" name="Plugin point 3"/>
          <p:cNvSpPr txBox="1"/>
          <p:nvPr/>
        </p:nvSpPr>
        <p:spPr>
          <a:xfrm>
            <a:off x="5486400" y="352044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정확한 실행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group:artifact:goal@executionId로 실행되어 해당 execution의 설정이 그대로 적용됩니다.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실행 방식 선택</a:t>
            </a:r>
            <a:endParaRPr lang="en-US" sz="3200" dirty="0"/>
          </a:p>
        </p:txBody>
      </p:sp>
      <p:pic>
        <p:nvPicPr>
          <p:cNvPr id="3" name="Checkbox icon" descr="mvn 체크박스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914400" cy="402336"/>
          </a:xfrm>
          <a:prstGeom prst="rect">
            <a:avLst/>
          </a:prstGeom>
        </p:spPr>
      </p:pic>
      <p:sp>
        <p:nvSpPr>
          <p:cNvPr id="4" name="Mode intro"/>
          <p:cNvSpPr txBox="1"/>
          <p:nvPr/>
        </p:nvSpPr>
        <p:spPr>
          <a:xfrm>
            <a:off x="1554480" y="1097280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툴바 맨 왼쪽 mvn 체크박스로 전환합니다. 선택은 저장됩니다.</a:t>
            </a:r>
            <a:endParaRPr lang="en-US" sz="1400" dirty="0"/>
          </a:p>
        </p:txBody>
      </p:sp>
      <p:sp>
        <p:nvSpPr>
          <p:cNvPr id="5" name="Mode card 1"/>
          <p:cNvSpPr/>
          <p:nvPr/>
        </p:nvSpPr>
        <p:spPr>
          <a:xfrm>
            <a:off x="457200" y="1783080"/>
            <a:ext cx="4023360" cy="246888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6" name="Mode title 1"/>
          <p:cNvSpPr txBox="1"/>
          <p:nvPr/>
        </p:nvSpPr>
        <p:spPr>
          <a:xfrm>
            <a:off x="685800" y="19202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체크함: 외부 mvn</a:t>
            </a:r>
            <a:endParaRPr lang="en-US" sz="1800" dirty="0"/>
          </a:p>
        </p:txBody>
      </p:sp>
      <p:sp>
        <p:nvSpPr>
          <p:cNvPr id="7" name="Mode bullets 1"/>
          <p:cNvSpPr txBox="1"/>
          <p:nvPr/>
        </p:nvSpPr>
        <p:spPr>
          <a:xfrm>
            <a:off x="685800" y="251460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PATH의 mvn을 실행합니다.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로그인 셸 PATH와 Homebrew·SDKMAN 경로까지 찾아봅니다.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결과는 Console 뷰에 출력됩니다.</a:t>
            </a:r>
            <a:endParaRPr lang="en-US" sz="1500" dirty="0"/>
          </a:p>
        </p:txBody>
      </p:sp>
      <p:sp>
        <p:nvSpPr>
          <p:cNvPr id="8" name="Mode card 2"/>
          <p:cNvSpPr/>
          <p:nvPr/>
        </p:nvSpPr>
        <p:spPr>
          <a:xfrm>
            <a:off x="4663440" y="1783080"/>
            <a:ext cx="4023360" cy="246888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9" name="Mode title 2"/>
          <p:cNvSpPr txBox="1"/>
          <p:nvPr/>
        </p:nvSpPr>
        <p:spPr>
          <a:xfrm>
            <a:off x="4892040" y="19202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체크 해제: 내장 Maven</a:t>
            </a:r>
            <a:endParaRPr lang="en-US" sz="1800" dirty="0"/>
          </a:p>
        </p:txBody>
      </p:sp>
      <p:sp>
        <p:nvSpPr>
          <p:cNvPr id="10" name="Mode bullets 2"/>
          <p:cNvSpPr txBox="1"/>
          <p:nvPr/>
        </p:nvSpPr>
        <p:spPr>
          <a:xfrm>
            <a:off x="4892040" y="251460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Eclipse m2e의 내장 Maven을 사용합니다.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별도 Maven 설치가 필요 없습니다.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Run As &gt; Maven Build와 같은 경로로 실행됩니다.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편의 기능</a:t>
            </a:r>
            <a:endParaRPr lang="en-US" sz="3200" dirty="0"/>
          </a:p>
        </p:txBody>
      </p:sp>
      <p:sp>
        <p:nvSpPr>
          <p:cNvPr id="3" name="Trouble card 1"/>
          <p:cNvSpPr/>
          <p:nvPr/>
        </p:nvSpPr>
        <p:spPr>
          <a:xfrm>
            <a:off x="457200" y="1097280"/>
            <a:ext cx="822960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" name="Trouble title 1"/>
          <p:cNvSpPr txBox="1"/>
          <p:nvPr/>
        </p:nvSpPr>
        <p:spPr>
          <a:xfrm>
            <a:off x="685800" y="10972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Goal 검색</a:t>
            </a:r>
            <a:endParaRPr lang="en-US" sz="1500" dirty="0"/>
          </a:p>
        </p:txBody>
      </p:sp>
      <p:sp>
        <p:nvSpPr>
          <p:cNvPr id="5" name="Trouble text 1"/>
          <p:cNvSpPr txBox="1"/>
          <p:nvPr/>
        </p:nvSpPr>
        <p:spPr>
          <a:xfrm>
            <a:off x="3566160" y="10972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트리 위 검색창에 키워드를 입력하면 일치하는 goal만 표시됩니다. Esc로 해제합니다.</a:t>
            </a:r>
            <a:endParaRPr lang="en-US" sz="1300" dirty="0"/>
          </a:p>
        </p:txBody>
      </p:sp>
      <p:sp>
        <p:nvSpPr>
          <p:cNvPr id="6" name="Trouble card 2"/>
          <p:cNvSpPr/>
          <p:nvPr/>
        </p:nvSpPr>
        <p:spPr>
          <a:xfrm>
            <a:off x="457200" y="2029968"/>
            <a:ext cx="822960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7" name="Trouble title 2"/>
          <p:cNvSpPr txBox="1"/>
          <p:nvPr/>
        </p:nvSpPr>
        <p:spPr>
          <a:xfrm>
            <a:off x="685800" y="2029968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즐겨찾기 / 최근 실행</a:t>
            </a:r>
            <a:endParaRPr lang="en-US" sz="1500" dirty="0"/>
          </a:p>
        </p:txBody>
      </p:sp>
      <p:sp>
        <p:nvSpPr>
          <p:cNvPr id="8" name="Trouble text 2"/>
          <p:cNvSpPr txBox="1"/>
          <p:nvPr/>
        </p:nvSpPr>
        <p:spPr>
          <a:xfrm>
            <a:off x="3566160" y="2029968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우클릭 → Add to Favorites(★). 툴바 드롭다운에서 즐겨찾기와 최근 실행 10개를 바로 실행합니다.</a:t>
            </a:r>
            <a:endParaRPr lang="en-US" sz="1300" dirty="0"/>
          </a:p>
        </p:txBody>
      </p:sp>
      <p:sp>
        <p:nvSpPr>
          <p:cNvPr id="9" name="Trouble card 3"/>
          <p:cNvSpPr/>
          <p:nvPr/>
        </p:nvSpPr>
        <p:spPr>
          <a:xfrm>
            <a:off x="457200" y="2962656"/>
            <a:ext cx="822960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0" name="Trouble title 3"/>
          <p:cNvSpPr txBox="1"/>
          <p:nvPr/>
        </p:nvSpPr>
        <p:spPr>
          <a:xfrm>
            <a:off x="685800" y="2962656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Run with Options…</a:t>
            </a:r>
            <a:endParaRPr lang="en-US" sz="1500" dirty="0"/>
          </a:p>
        </p:txBody>
      </p:sp>
      <p:sp>
        <p:nvSpPr>
          <p:cNvPr id="11" name="Trouble text 3"/>
          <p:cNvSpPr txBox="1"/>
          <p:nvPr/>
        </p:nvSpPr>
        <p:spPr>
          <a:xfrm>
            <a:off x="3566160" y="2962656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우클릭 → goal 수정, 프로파일(-P), -DskipTests, -o, -U, 추가 인자를 지정해 실행합니다.</a:t>
            </a:r>
            <a:endParaRPr lang="en-US" sz="1300" dirty="0"/>
          </a:p>
        </p:txBody>
      </p:sp>
      <p:sp>
        <p:nvSpPr>
          <p:cNvPr id="12" name="Trouble card 4"/>
          <p:cNvSpPr/>
          <p:nvPr/>
        </p:nvSpPr>
        <p:spPr>
          <a:xfrm>
            <a:off x="457200" y="3895344"/>
            <a:ext cx="822960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3" name="Trouble title 4"/>
          <p:cNvSpPr txBox="1"/>
          <p:nvPr/>
        </p:nvSpPr>
        <p:spPr>
          <a:xfrm>
            <a:off x="685800" y="3895344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멀티 모듈</a:t>
            </a:r>
            <a:endParaRPr lang="en-US" sz="1500" dirty="0"/>
          </a:p>
        </p:txBody>
      </p:sp>
      <p:sp>
        <p:nvSpPr>
          <p:cNvPr id="14" name="Trouble text 4"/>
          <p:cNvSpPr txBox="1"/>
          <p:nvPr/>
        </p:nvSpPr>
        <p:spPr>
          <a:xfrm>
            <a:off x="3566160" y="3895344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부모 pom을 등록하면 &lt;modules&gt;의 하위 모듈이 Modules 폴더 아래에 함께 표시됩니다.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상태 저장과 언어</a:t>
            </a:r>
            <a:endParaRPr lang="en-US" sz="3200" dirty="0"/>
          </a:p>
        </p:txBody>
      </p:sp>
      <p:sp>
        <p:nvSpPr>
          <p:cNvPr id="3" name="Trouble card 1"/>
          <p:cNvSpPr/>
          <p:nvPr/>
        </p:nvSpPr>
        <p:spPr>
          <a:xfrm>
            <a:off x="457200" y="1097280"/>
            <a:ext cx="822960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" name="Trouble title 1"/>
          <p:cNvSpPr txBox="1"/>
          <p:nvPr/>
        </p:nvSpPr>
        <p:spPr>
          <a:xfrm>
            <a:off x="685800" y="10972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상태 복원</a:t>
            </a:r>
            <a:endParaRPr lang="en-US" sz="1500" dirty="0"/>
          </a:p>
        </p:txBody>
      </p:sp>
      <p:sp>
        <p:nvSpPr>
          <p:cNvPr id="5" name="Trouble text 1"/>
          <p:cNvSpPr txBox="1"/>
          <p:nvPr/>
        </p:nvSpPr>
        <p:spPr>
          <a:xfrm>
            <a:off x="3566160" y="10972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등록한 pom, 트리 펼침 상태, 검색어, 즐겨찾기·최근 실행 목록이 Eclipse를 재시작해도 유지됩니다.</a:t>
            </a:r>
            <a:endParaRPr lang="en-US" sz="1300" dirty="0"/>
          </a:p>
        </p:txBody>
      </p:sp>
      <p:sp>
        <p:nvSpPr>
          <p:cNvPr id="6" name="Trouble card 2"/>
          <p:cNvSpPr/>
          <p:nvPr/>
        </p:nvSpPr>
        <p:spPr>
          <a:xfrm>
            <a:off x="457200" y="2029968"/>
            <a:ext cx="822960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7" name="Trouble title 2"/>
          <p:cNvSpPr txBox="1"/>
          <p:nvPr/>
        </p:nvSpPr>
        <p:spPr>
          <a:xfrm>
            <a:off x="685800" y="2029968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다국어 UI</a:t>
            </a:r>
            <a:endParaRPr lang="en-US" sz="1500" dirty="0"/>
          </a:p>
        </p:txBody>
      </p:sp>
      <p:sp>
        <p:nvSpPr>
          <p:cNvPr id="8" name="Trouble text 2"/>
          <p:cNvSpPr txBox="1"/>
          <p:nvPr/>
        </p:nvSpPr>
        <p:spPr>
          <a:xfrm>
            <a:off x="3566160" y="2029968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기본 영어. Eclipse를 한국어·일본어·중국어(간체) 환경(-nl ko / ja / zh)으로 실행하면 해당 언어로 표시됩니다.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문제 해결</a:t>
            </a:r>
            <a:endParaRPr lang="en-US" sz="3200" dirty="0"/>
          </a:p>
        </p:txBody>
      </p:sp>
      <p:sp>
        <p:nvSpPr>
          <p:cNvPr id="3" name="Trouble card 1"/>
          <p:cNvSpPr/>
          <p:nvPr/>
        </p:nvSpPr>
        <p:spPr>
          <a:xfrm>
            <a:off x="457200" y="1097280"/>
            <a:ext cx="822960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" name="Trouble title 1"/>
          <p:cNvSpPr txBox="1"/>
          <p:nvPr/>
        </p:nvSpPr>
        <p:spPr>
          <a:xfrm>
            <a:off x="685800" y="10972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뷰가 비어 있음</a:t>
            </a:r>
            <a:endParaRPr lang="en-US" sz="1500" dirty="0"/>
          </a:p>
        </p:txBody>
      </p:sp>
      <p:sp>
        <p:nvSpPr>
          <p:cNvPr id="5" name="Trouble text 1"/>
          <p:cNvSpPr txBox="1"/>
          <p:nvPr/>
        </p:nvSpPr>
        <p:spPr>
          <a:xfrm>
            <a:off x="3566160" y="10972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등록된 pom.xml이 없는 상태입니다. 드래그 앤 드롭이나 Add 버튼으로 등록하세요.</a:t>
            </a:r>
            <a:endParaRPr lang="en-US" sz="1300" dirty="0"/>
          </a:p>
        </p:txBody>
      </p:sp>
      <p:sp>
        <p:nvSpPr>
          <p:cNvPr id="6" name="Trouble card 2"/>
          <p:cNvSpPr/>
          <p:nvPr/>
        </p:nvSpPr>
        <p:spPr>
          <a:xfrm>
            <a:off x="457200" y="2029968"/>
            <a:ext cx="822960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7" name="Trouble title 2"/>
          <p:cNvSpPr txBox="1"/>
          <p:nvPr/>
        </p:nvSpPr>
        <p:spPr>
          <a:xfrm>
            <a:off x="685800" y="2029968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mvn을 찾을 수 없음</a:t>
            </a:r>
            <a:endParaRPr lang="en-US" sz="1500" dirty="0"/>
          </a:p>
        </p:txBody>
      </p:sp>
      <p:sp>
        <p:nvSpPr>
          <p:cNvPr id="8" name="Trouble text 2"/>
          <p:cNvSpPr txBox="1"/>
          <p:nvPr/>
        </p:nvSpPr>
        <p:spPr>
          <a:xfrm>
            <a:off x="3566160" y="2029968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mvn 체크박스를 해제해 내장 Maven을 쓰거나, 터미널에서 mvn -v로 설치를 확인하세요.</a:t>
            </a:r>
            <a:endParaRPr lang="en-US" sz="1300" dirty="0"/>
          </a:p>
        </p:txBody>
      </p:sp>
      <p:sp>
        <p:nvSpPr>
          <p:cNvPr id="9" name="Trouble card 3"/>
          <p:cNvSpPr/>
          <p:nvPr/>
        </p:nvSpPr>
        <p:spPr>
          <a:xfrm>
            <a:off x="457200" y="2962656"/>
            <a:ext cx="822960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0" name="Trouble title 3"/>
          <p:cNvSpPr txBox="1"/>
          <p:nvPr/>
        </p:nvSpPr>
        <p:spPr>
          <a:xfrm>
            <a:off x="685800" y="2962656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업데이트가 반영되지 않음</a:t>
            </a:r>
            <a:endParaRPr lang="en-US" sz="1500" dirty="0"/>
          </a:p>
        </p:txBody>
      </p:sp>
      <p:sp>
        <p:nvSpPr>
          <p:cNvPr id="11" name="Trouble text 3"/>
          <p:cNvSpPr txBox="1"/>
          <p:nvPr/>
        </p:nvSpPr>
        <p:spPr>
          <a:xfrm>
            <a:off x="3566160" y="2962656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dropins 안에 같은 플러그인이 둘 이상이면 옛 jar가 로드됩니다. 하나만 남기고 -clean으로 재실행하세요.</a:t>
            </a:r>
            <a:endParaRPr lang="en-US" sz="1300" dirty="0"/>
          </a:p>
        </p:txBody>
      </p:sp>
      <p:sp>
        <p:nvSpPr>
          <p:cNvPr id="12" name="Trouble card 4"/>
          <p:cNvSpPr/>
          <p:nvPr/>
        </p:nvSpPr>
        <p:spPr>
          <a:xfrm>
            <a:off x="457200" y="3895344"/>
            <a:ext cx="822960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3" name="Trouble title 4"/>
          <p:cNvSpPr txBox="1"/>
          <p:nvPr/>
        </p:nvSpPr>
        <p:spPr>
          <a:xfrm>
            <a:off x="685800" y="3895344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플러그인이 보이지 않음</a:t>
            </a:r>
            <a:endParaRPr lang="en-US" sz="1500" dirty="0"/>
          </a:p>
        </p:txBody>
      </p:sp>
      <p:sp>
        <p:nvSpPr>
          <p:cNvPr id="14" name="Trouble text 4"/>
          <p:cNvSpPr txBox="1"/>
          <p:nvPr/>
        </p:nvSpPr>
        <p:spPr>
          <a:xfrm>
            <a:off x="3566160" y="3895344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Eclipse를 완전히 종료한 뒤 -clean으로 재실행해야 합니다. 같은 워크스페이스의 다른 인스턴스가 떠 있으면 무시됩니다.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최신 화면: 툴바와 검색창</a:t>
            </a:r>
            <a:endParaRPr lang="en-US" sz="3200" dirty="0"/>
          </a:p>
        </p:txBody>
      </p:sp>
      <p:sp>
        <p:nvSpPr>
          <p:cNvPr id="4" name="Plugin point 1"/>
          <p:cNvSpPr txBox="1"/>
          <p:nvPr/>
        </p:nvSpPr>
        <p:spPr>
          <a:xfrm>
            <a:off x="5486400" y="11430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툴바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mvn 체크박스 · Run · 즐겨찾기/최근 실행(ⁱ▾) · Update · 등록/제거/새로고침 · 펼치기/접기</a:t>
            </a:r>
            <a:endParaRPr lang="en-US" sz="1600" dirty="0"/>
          </a:p>
        </p:txBody>
      </p:sp>
      <p:sp>
        <p:nvSpPr>
          <p:cNvPr id="5" name="Plugin point 2"/>
          <p:cNvSpPr txBox="1"/>
          <p:nvPr/>
        </p:nvSpPr>
        <p:spPr>
          <a:xfrm>
            <a:off x="5486400" y="233172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Goal 필터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검색창에 키워드를 입력하면 일치하는 goal만 표시됩니다. Esc로 해제합니다.</a:t>
            </a:r>
            <a:endParaRPr lang="en-US" sz="1600" dirty="0"/>
          </a:p>
        </p:txBody>
      </p:sp>
      <p:sp>
        <p:nvSpPr>
          <p:cNvPr id="6" name="Plugin point 3"/>
          <p:cNvSpPr txBox="1"/>
          <p:nvPr/>
        </p:nvSpPr>
        <p:spPr>
          <a:xfrm>
            <a:off x="5486400" y="352044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Maven 그룹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Show View &gt; Maven &gt; Maven Goals에서 열며, 탭에 Maven 아이콘이 표시됩니다.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  <p:pic>
        <p:nvPicPr>
          <p:cNvPr id="26" name="Latest view screenshot" descr="view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595" y="1097280"/>
            <a:ext cx="4530090" cy="27749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KCube Manual">
  <a:themeElements>
    <a:clrScheme name="KCube Manual">
      <a:dk1>
        <a:srgbClr val="1B2A49"/>
      </a:dk1>
      <a:lt1>
        <a:srgbClr val="FFFFFF"/>
      </a:lt1>
      <a:dk2>
        <a:srgbClr val="2E4A7D"/>
      </a:dk2>
      <a:lt2>
        <a:srgbClr val="F3F6FB"/>
      </a:lt2>
      <a:accent1>
        <a:srgbClr val="E8833A"/>
      </a:accent1>
      <a:accent2>
        <a:srgbClr val="2E4A7D"/>
      </a:accent2>
      <a:accent3>
        <a:srgbClr val="5B8DB8"/>
      </a:accent3>
      <a:accent4>
        <a:srgbClr val="7AA974"/>
      </a:accent4>
      <a:accent5>
        <a:srgbClr val="D6E4F5"/>
      </a:accent5>
      <a:accent6>
        <a:srgbClr val="8A94A6"/>
      </a:accent6>
      <a:hlink>
        <a:srgbClr val="2E4A7D"/>
      </a:hlink>
      <a:folHlink>
        <a:srgbClr val="8A94A6"/>
      </a:folHlink>
    </a:clrScheme>
    <a:fontScheme name="KCube Manu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KCube Maven Goals 사용 매뉴얼</dc:title>
  <dc:subject>PptxGenJS Presentation</dc:subject>
  <dc:creator>PptxGenJS</dc:creator>
  <cp:lastModifiedBy>PptxGenJS</cp:lastModifiedBy>
  <cp:revision>1</cp:revision>
  <dcterms:created xsi:type="dcterms:W3CDTF">2026-10-03T04:48:49Z</dcterms:created>
  <dcterms:modified xsi:type="dcterms:W3CDTF">2026-10-03T04:48:49Z</dcterms:modified>
</cp:coreProperties>
</file>